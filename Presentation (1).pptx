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FB4C4A-E626-4ED5-A602-B4BF315F8598}" v="9" dt="2026-07-28T02:53:08.2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ashri R S" userId="0983b8627dd69cba" providerId="LiveId" clId="{E621A85D-BADA-4FCF-9D06-F553C23BEAE0}"/>
    <pc:docChg chg="custSel addSld delSld modSld">
      <pc:chgData name="Poojashri R S" userId="0983b8627dd69cba" providerId="LiveId" clId="{E621A85D-BADA-4FCF-9D06-F553C23BEAE0}" dt="2026-07-28T03:07:03.865" v="50" actId="27636"/>
      <pc:docMkLst>
        <pc:docMk/>
      </pc:docMkLst>
      <pc:sldChg chg="modSp mod">
        <pc:chgData name="Poojashri R S" userId="0983b8627dd69cba" providerId="LiveId" clId="{E621A85D-BADA-4FCF-9D06-F553C23BEAE0}" dt="2026-07-28T03:07:03.865" v="50" actId="27636"/>
        <pc:sldMkLst>
          <pc:docMk/>
          <pc:sldMk cId="1107933878" sldId="256"/>
        </pc:sldMkLst>
        <pc:spChg chg="mod">
          <ac:chgData name="Poojashri R S" userId="0983b8627dd69cba" providerId="LiveId" clId="{E621A85D-BADA-4FCF-9D06-F553C23BEAE0}" dt="2026-07-28T03:07:03.865" v="50" actId="27636"/>
          <ac:spMkLst>
            <pc:docMk/>
            <pc:sldMk cId="1107933878" sldId="256"/>
            <ac:spMk id="3" creationId="{8F5E3D96-7909-C45C-2D17-F4231862B9E8}"/>
          </ac:spMkLst>
        </pc:spChg>
      </pc:sldChg>
      <pc:sldChg chg="modSp mod">
        <pc:chgData name="Poojashri R S" userId="0983b8627dd69cba" providerId="LiveId" clId="{E621A85D-BADA-4FCF-9D06-F553C23BEAE0}" dt="2026-07-28T02:36:21.580" v="21" actId="5793"/>
        <pc:sldMkLst>
          <pc:docMk/>
          <pc:sldMk cId="3770744936" sldId="258"/>
        </pc:sldMkLst>
        <pc:spChg chg="mod">
          <ac:chgData name="Poojashri R S" userId="0983b8627dd69cba" providerId="LiveId" clId="{E621A85D-BADA-4FCF-9D06-F553C23BEAE0}" dt="2026-07-28T02:36:21.580" v="21" actId="5793"/>
          <ac:spMkLst>
            <pc:docMk/>
            <pc:sldMk cId="3770744936" sldId="258"/>
            <ac:spMk id="3" creationId="{BFF0568F-2F10-53AF-2AEF-EBF512B756B7}"/>
          </ac:spMkLst>
        </pc:spChg>
        <pc:graphicFrameChg chg="mod">
          <ac:chgData name="Poojashri R S" userId="0983b8627dd69cba" providerId="LiveId" clId="{E621A85D-BADA-4FCF-9D06-F553C23BEAE0}" dt="2026-07-28T02:35:48.956" v="3" actId="1076"/>
          <ac:graphicFrameMkLst>
            <pc:docMk/>
            <pc:sldMk cId="3770744936" sldId="258"/>
            <ac:graphicFrameMk id="4" creationId="{CD2E9956-2760-17A7-D02B-4BB9971E6391}"/>
          </ac:graphicFrameMkLst>
        </pc:graphicFrameChg>
      </pc:sldChg>
      <pc:sldChg chg="addSp modSp mod">
        <pc:chgData name="Poojashri R S" userId="0983b8627dd69cba" providerId="LiveId" clId="{E621A85D-BADA-4FCF-9D06-F553C23BEAE0}" dt="2026-07-28T02:53:20.930" v="46" actId="1076"/>
        <pc:sldMkLst>
          <pc:docMk/>
          <pc:sldMk cId="2874504488" sldId="259"/>
        </pc:sldMkLst>
        <pc:spChg chg="mod">
          <ac:chgData name="Poojashri R S" userId="0983b8627dd69cba" providerId="LiveId" clId="{E621A85D-BADA-4FCF-9D06-F553C23BEAE0}" dt="2026-07-28T02:52:35.042" v="38"/>
          <ac:spMkLst>
            <pc:docMk/>
            <pc:sldMk cId="2874504488" sldId="259"/>
            <ac:spMk id="3" creationId="{E0E7E298-8D24-4D51-EB7A-26E31994AC0D}"/>
          </ac:spMkLst>
        </pc:spChg>
        <pc:spChg chg="add mod">
          <ac:chgData name="Poojashri R S" userId="0983b8627dd69cba" providerId="LiveId" clId="{E621A85D-BADA-4FCF-9D06-F553C23BEAE0}" dt="2026-07-28T02:52:27.700" v="37" actId="14100"/>
          <ac:spMkLst>
            <pc:docMk/>
            <pc:sldMk cId="2874504488" sldId="259"/>
            <ac:spMk id="4" creationId="{E541A258-AF5F-FE54-FC3F-443794BCB8F2}"/>
          </ac:spMkLst>
        </pc:spChg>
        <pc:spChg chg="add mod">
          <ac:chgData name="Poojashri R S" userId="0983b8627dd69cba" providerId="LiveId" clId="{E621A85D-BADA-4FCF-9D06-F553C23BEAE0}" dt="2026-07-28T02:52:59.558" v="42" actId="1076"/>
          <ac:spMkLst>
            <pc:docMk/>
            <pc:sldMk cId="2874504488" sldId="259"/>
            <ac:spMk id="5" creationId="{25A30B19-D5C5-BF12-725C-9D4D64363E1E}"/>
          </ac:spMkLst>
        </pc:spChg>
        <pc:spChg chg="add mod">
          <ac:chgData name="Poojashri R S" userId="0983b8627dd69cba" providerId="LiveId" clId="{E621A85D-BADA-4FCF-9D06-F553C23BEAE0}" dt="2026-07-28T02:53:20.930" v="46" actId="1076"/>
          <ac:spMkLst>
            <pc:docMk/>
            <pc:sldMk cId="2874504488" sldId="259"/>
            <ac:spMk id="6" creationId="{A3969A37-2601-A1FE-838E-68979C3C0077}"/>
          </ac:spMkLst>
        </pc:spChg>
      </pc:sldChg>
      <pc:sldChg chg="new del">
        <pc:chgData name="Poojashri R S" userId="0983b8627dd69cba" providerId="LiveId" clId="{E621A85D-BADA-4FCF-9D06-F553C23BEAE0}" dt="2026-07-28T02:42:10.528" v="23" actId="47"/>
        <pc:sldMkLst>
          <pc:docMk/>
          <pc:sldMk cId="1868310520" sldId="26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7/28/2026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7/28/2026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7/28/2026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56D4D-EB87-C6CA-F59D-CD4F16357166}"/>
              </a:ext>
            </a:extLst>
          </p:cNvPr>
          <p:cNvSpPr>
            <a:spLocks noGrp="1"/>
          </p:cNvSpPr>
          <p:nvPr>
            <p:ph type="ctrTitle"/>
          </p:nvPr>
        </p:nvSpPr>
        <p:spPr>
          <a:xfrm>
            <a:off x="2417780" y="802298"/>
            <a:ext cx="7316156" cy="2541431"/>
          </a:xfrm>
        </p:spPr>
        <p:txBody>
          <a:bodyPr/>
          <a:lstStyle/>
          <a:p>
            <a:pPr algn="ctr"/>
            <a:r>
              <a:rPr lang="en-US" dirty="0"/>
              <a:t>NFA vs Dfa </a:t>
            </a:r>
            <a:endParaRPr lang="en-IN" dirty="0"/>
          </a:p>
        </p:txBody>
      </p:sp>
      <p:sp>
        <p:nvSpPr>
          <p:cNvPr id="3" name="Subtitle 2">
            <a:extLst>
              <a:ext uri="{FF2B5EF4-FFF2-40B4-BE49-F238E27FC236}">
                <a16:creationId xmlns:a16="http://schemas.microsoft.com/office/drawing/2014/main" id="{8F5E3D96-7909-C45C-2D17-F4231862B9E8}"/>
              </a:ext>
            </a:extLst>
          </p:cNvPr>
          <p:cNvSpPr>
            <a:spLocks noGrp="1"/>
          </p:cNvSpPr>
          <p:nvPr>
            <p:ph type="subTitle" idx="1"/>
          </p:nvPr>
        </p:nvSpPr>
        <p:spPr>
          <a:xfrm>
            <a:off x="9851923" y="5078081"/>
            <a:ext cx="2340076" cy="977621"/>
          </a:xfrm>
        </p:spPr>
        <p:txBody>
          <a:bodyPr>
            <a:normAutofit fontScale="92500" lnSpcReduction="20000"/>
          </a:bodyPr>
          <a:lstStyle/>
          <a:p>
            <a:r>
              <a:rPr lang="en-US" dirty="0"/>
              <a:t>VISHNU PRASAD M</a:t>
            </a:r>
            <a:br>
              <a:rPr lang="en-US" dirty="0"/>
            </a:br>
            <a:r>
              <a:rPr lang="en-US" dirty="0"/>
              <a:t>192311217</a:t>
            </a:r>
            <a:br>
              <a:rPr lang="en-US" dirty="0"/>
            </a:br>
            <a:r>
              <a:rPr lang="en-US" dirty="0"/>
              <a:t>CSA1407</a:t>
            </a:r>
          </a:p>
          <a:p>
            <a:endParaRPr lang="en-IN" dirty="0"/>
          </a:p>
        </p:txBody>
      </p:sp>
    </p:spTree>
    <p:extLst>
      <p:ext uri="{BB962C8B-B14F-4D97-AF65-F5344CB8AC3E}">
        <p14:creationId xmlns:p14="http://schemas.microsoft.com/office/powerpoint/2010/main" val="1107933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AF38D-2A9C-54A9-E53F-FF6ADE4A2634}"/>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What is a Finite Automaton?</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277656-8546-BDCF-A6B3-3D3B84A3937E}"/>
              </a:ext>
            </a:extLst>
          </p:cNvPr>
          <p:cNvSpPr>
            <a:spLocks noGrp="1"/>
          </p:cNvSpPr>
          <p:nvPr>
            <p:ph idx="1"/>
          </p:nvPr>
        </p:nvSpPr>
        <p:spPr/>
        <p:txBody>
          <a:bodyPr>
            <a:normAutofit/>
          </a:bodyPr>
          <a:lstStyle/>
          <a:p>
            <a:pPr marL="0" indent="0">
              <a:buNone/>
            </a:pPr>
            <a:r>
              <a:rPr lang="en-IN" dirty="0">
                <a:latin typeface="Times New Roman" panose="02020603050405020304" pitchFamily="18" charset="0"/>
                <a:cs typeface="Times New Roman" panose="02020603050405020304" pitchFamily="18" charset="0"/>
              </a:rPr>
              <a:t>A Finite Automaton (FA) is a mathematical model used to recognize patterns in strings.</a:t>
            </a:r>
          </a:p>
          <a:p>
            <a:pPr marL="0" indent="0">
              <a:buNone/>
            </a:pPr>
            <a:r>
              <a:rPr lang="en-IN" dirty="0">
                <a:latin typeface="Times New Roman" panose="02020603050405020304" pitchFamily="18" charset="0"/>
                <a:cs typeface="Times New Roman" panose="02020603050405020304" pitchFamily="18" charset="0"/>
              </a:rPr>
              <a:t>It consists of:</a:t>
            </a:r>
          </a:p>
          <a:p>
            <a:r>
              <a:rPr lang="en-IN" dirty="0">
                <a:latin typeface="Times New Roman" panose="02020603050405020304" pitchFamily="18" charset="0"/>
                <a:cs typeface="Times New Roman" panose="02020603050405020304" pitchFamily="18" charset="0"/>
              </a:rPr>
              <a:t>States</a:t>
            </a:r>
          </a:p>
          <a:p>
            <a:r>
              <a:rPr lang="en-IN" dirty="0">
                <a:latin typeface="Times New Roman" panose="02020603050405020304" pitchFamily="18" charset="0"/>
                <a:cs typeface="Times New Roman" panose="02020603050405020304" pitchFamily="18" charset="0"/>
              </a:rPr>
              <a:t>Input alphabet</a:t>
            </a:r>
          </a:p>
          <a:p>
            <a:r>
              <a:rPr lang="en-IN" dirty="0">
                <a:latin typeface="Times New Roman" panose="02020603050405020304" pitchFamily="18" charset="0"/>
                <a:cs typeface="Times New Roman" panose="02020603050405020304" pitchFamily="18" charset="0"/>
              </a:rPr>
              <a:t>Transitions</a:t>
            </a:r>
          </a:p>
          <a:p>
            <a:r>
              <a:rPr lang="en-IN" dirty="0">
                <a:latin typeface="Times New Roman" panose="02020603050405020304" pitchFamily="18" charset="0"/>
                <a:cs typeface="Times New Roman" panose="02020603050405020304" pitchFamily="18" charset="0"/>
              </a:rPr>
              <a:t>Start state</a:t>
            </a:r>
          </a:p>
          <a:p>
            <a:r>
              <a:rPr lang="en-IN" dirty="0">
                <a:latin typeface="Times New Roman" panose="02020603050405020304" pitchFamily="18" charset="0"/>
                <a:cs typeface="Times New Roman" panose="02020603050405020304" pitchFamily="18" charset="0"/>
              </a:rPr>
              <a:t>Accept (final) state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062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5210D-EDCC-C83C-A6AF-FA3374CBA8FD}"/>
              </a:ext>
            </a:extLst>
          </p:cNvPr>
          <p:cNvSpPr>
            <a:spLocks noGrp="1"/>
          </p:cNvSpPr>
          <p:nvPr>
            <p:ph type="title"/>
          </p:nvPr>
        </p:nvSpPr>
        <p:spPr>
          <a:xfrm>
            <a:off x="1451579" y="904567"/>
            <a:ext cx="9603275" cy="884903"/>
          </a:xfrm>
        </p:spPr>
        <p:txBody>
          <a:bodyPr>
            <a:normAutofit fontScale="90000"/>
          </a:bodyPr>
          <a:lstStyle/>
          <a:p>
            <a:r>
              <a:rPr lang="en-IN" b="1" dirty="0">
                <a:latin typeface="Times New Roman" panose="02020603050405020304" pitchFamily="18" charset="0"/>
                <a:cs typeface="Times New Roman" panose="02020603050405020304" pitchFamily="18" charset="0"/>
              </a:rPr>
              <a:t>What is DFA?</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F0568F-2F10-53AF-2AEF-EBF512B756B7}"/>
              </a:ext>
            </a:extLst>
          </p:cNvPr>
          <p:cNvSpPr>
            <a:spLocks noGrp="1"/>
          </p:cNvSpPr>
          <p:nvPr>
            <p:ph idx="1"/>
          </p:nvPr>
        </p:nvSpPr>
        <p:spPr>
          <a:xfrm>
            <a:off x="1451579" y="1897626"/>
            <a:ext cx="9603275" cy="4155856"/>
          </a:xfrm>
        </p:spPr>
        <p:txBody>
          <a:bodyPr>
            <a:normAutofit fontScale="70000" lnSpcReduction="20000"/>
          </a:bodyPr>
          <a:lstStyle/>
          <a:p>
            <a:pPr marL="0" indent="0">
              <a:buNone/>
            </a:pPr>
            <a:r>
              <a:rPr lang="en-IN" dirty="0">
                <a:latin typeface="Times New Roman" panose="02020603050405020304" pitchFamily="18" charset="0"/>
                <a:cs typeface="Times New Roman" panose="02020603050405020304" pitchFamily="18" charset="0"/>
              </a:rPr>
              <a:t>A Deterministic Finite Automaton (DFA) is a finite automaton where each state has exactly one transition for every input symbol.</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Example</a:t>
            </a:r>
          </a:p>
          <a:p>
            <a:r>
              <a:rPr lang="en-IN" dirty="0">
                <a:latin typeface="Times New Roman" panose="02020603050405020304" pitchFamily="18" charset="0"/>
                <a:cs typeface="Times New Roman" panose="02020603050405020304" pitchFamily="18" charset="0"/>
              </a:rPr>
              <a:t>Suppose we want to accept strings ending with 1.</a:t>
            </a:r>
          </a:p>
          <a:p>
            <a:r>
              <a:rPr lang="en-IN" dirty="0">
                <a:latin typeface="Times New Roman" panose="02020603050405020304" pitchFamily="18" charset="0"/>
                <a:cs typeface="Times New Roman" panose="02020603050405020304" pitchFamily="18" charset="0"/>
              </a:rPr>
              <a:t>States:</a:t>
            </a:r>
          </a:p>
          <a:p>
            <a:r>
              <a:rPr lang="en-IN" dirty="0">
                <a:latin typeface="Times New Roman" panose="02020603050405020304" pitchFamily="18" charset="0"/>
                <a:cs typeface="Times New Roman" panose="02020603050405020304" pitchFamily="18" charset="0"/>
              </a:rPr>
              <a:t>q0 = Start</a:t>
            </a:r>
          </a:p>
          <a:p>
            <a:r>
              <a:rPr lang="en-IN" dirty="0">
                <a:latin typeface="Times New Roman" panose="02020603050405020304" pitchFamily="18" charset="0"/>
                <a:cs typeface="Times New Roman" panose="02020603050405020304" pitchFamily="18" charset="0"/>
              </a:rPr>
              <a:t>q1 = Final</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0" indent="0">
              <a:buNone/>
            </a:pPr>
            <a:r>
              <a:rPr lang="en-IN" dirty="0"/>
              <a:t>Example Input</a:t>
            </a:r>
          </a:p>
          <a:p>
            <a:r>
              <a:rPr lang="en-IN" dirty="0"/>
              <a:t>String = 101</a:t>
            </a:r>
          </a:p>
          <a:p>
            <a:r>
              <a:rPr lang="en-IN" dirty="0"/>
              <a:t>q0 → q1 → q0 → q1</a:t>
            </a:r>
          </a:p>
          <a:p>
            <a:r>
              <a:rPr lang="en-IN" dirty="0"/>
              <a:t>Ends in q1, so the string is Accepted.</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D2E9956-2760-17A7-D02B-4BB9971E6391}"/>
              </a:ext>
            </a:extLst>
          </p:cNvPr>
          <p:cNvGraphicFramePr>
            <a:graphicFrameLocks noGrp="1"/>
          </p:cNvGraphicFramePr>
          <p:nvPr>
            <p:extLst>
              <p:ext uri="{D42A27DB-BD31-4B8C-83A1-F6EECF244321}">
                <p14:modId xmlns:p14="http://schemas.microsoft.com/office/powerpoint/2010/main" val="1736797762"/>
              </p:ext>
            </p:extLst>
          </p:nvPr>
        </p:nvGraphicFramePr>
        <p:xfrm>
          <a:off x="4993148" y="4308440"/>
          <a:ext cx="4919406" cy="1112520"/>
        </p:xfrm>
        <a:graphic>
          <a:graphicData uri="http://schemas.openxmlformats.org/drawingml/2006/table">
            <a:tbl>
              <a:tblPr firstRow="1" bandRow="1">
                <a:tableStyleId>{5C22544A-7EE6-4342-B048-85BDC9FD1C3A}</a:tableStyleId>
              </a:tblPr>
              <a:tblGrid>
                <a:gridCol w="1639802">
                  <a:extLst>
                    <a:ext uri="{9D8B030D-6E8A-4147-A177-3AD203B41FA5}">
                      <a16:colId xmlns:a16="http://schemas.microsoft.com/office/drawing/2014/main" val="2707320451"/>
                    </a:ext>
                  </a:extLst>
                </a:gridCol>
                <a:gridCol w="1639802">
                  <a:extLst>
                    <a:ext uri="{9D8B030D-6E8A-4147-A177-3AD203B41FA5}">
                      <a16:colId xmlns:a16="http://schemas.microsoft.com/office/drawing/2014/main" val="2961755147"/>
                    </a:ext>
                  </a:extLst>
                </a:gridCol>
                <a:gridCol w="1639802">
                  <a:extLst>
                    <a:ext uri="{9D8B030D-6E8A-4147-A177-3AD203B41FA5}">
                      <a16:colId xmlns:a16="http://schemas.microsoft.com/office/drawing/2014/main" val="3116862093"/>
                    </a:ext>
                  </a:extLst>
                </a:gridCol>
              </a:tblGrid>
              <a:tr h="370840">
                <a:tc>
                  <a:txBody>
                    <a:bodyPr/>
                    <a:lstStyle/>
                    <a:p>
                      <a:pPr>
                        <a:buNone/>
                      </a:pPr>
                      <a:r>
                        <a:rPr lang="en-IN" dirty="0">
                          <a:latin typeface="Times New Roman" panose="02020603050405020304" pitchFamily="18" charset="0"/>
                          <a:cs typeface="Times New Roman" panose="02020603050405020304" pitchFamily="18" charset="0"/>
                        </a:rPr>
                        <a:t>Current State</a:t>
                      </a:r>
                    </a:p>
                  </a:txBody>
                  <a:tcPr anchor="ctr"/>
                </a:tc>
                <a:tc>
                  <a:txBody>
                    <a:bodyPr/>
                    <a:lstStyle/>
                    <a:p>
                      <a:pPr>
                        <a:buNone/>
                      </a:pPr>
                      <a:r>
                        <a:rPr lang="en-IN" dirty="0">
                          <a:latin typeface="Times New Roman" panose="02020603050405020304" pitchFamily="18" charset="0"/>
                          <a:cs typeface="Times New Roman" panose="02020603050405020304" pitchFamily="18" charset="0"/>
                        </a:rPr>
                        <a:t>Input 0</a:t>
                      </a:r>
                    </a:p>
                  </a:txBody>
                  <a:tcPr anchor="ctr"/>
                </a:tc>
                <a:tc>
                  <a:txBody>
                    <a:bodyPr/>
                    <a:lstStyle/>
                    <a:p>
                      <a:pPr>
                        <a:buNone/>
                      </a:pPr>
                      <a:r>
                        <a:rPr lang="en-IN">
                          <a:latin typeface="Times New Roman" panose="02020603050405020304" pitchFamily="18" charset="0"/>
                          <a:cs typeface="Times New Roman" panose="02020603050405020304" pitchFamily="18" charset="0"/>
                        </a:rPr>
                        <a:t>Input 1</a:t>
                      </a:r>
                    </a:p>
                  </a:txBody>
                  <a:tcPr anchor="ctr"/>
                </a:tc>
                <a:extLst>
                  <a:ext uri="{0D108BD9-81ED-4DB2-BD59-A6C34878D82A}">
                    <a16:rowId xmlns:a16="http://schemas.microsoft.com/office/drawing/2014/main" val="1940851591"/>
                  </a:ext>
                </a:extLst>
              </a:tr>
              <a:tr h="370840">
                <a:tc>
                  <a:txBody>
                    <a:bodyPr/>
                    <a:lstStyle/>
                    <a:p>
                      <a:pPr>
                        <a:buNone/>
                      </a:pPr>
                      <a:r>
                        <a:rPr lang="en-IN" dirty="0">
                          <a:latin typeface="Times New Roman" panose="02020603050405020304" pitchFamily="18" charset="0"/>
                          <a:cs typeface="Times New Roman" panose="02020603050405020304" pitchFamily="18" charset="0"/>
                        </a:rPr>
                        <a:t>q0</a:t>
                      </a:r>
                    </a:p>
                  </a:txBody>
                  <a:tcPr anchor="ctr"/>
                </a:tc>
                <a:tc>
                  <a:txBody>
                    <a:bodyPr/>
                    <a:lstStyle/>
                    <a:p>
                      <a:pPr>
                        <a:buNone/>
                      </a:pPr>
                      <a:r>
                        <a:rPr lang="en-IN">
                          <a:latin typeface="Times New Roman" panose="02020603050405020304" pitchFamily="18" charset="0"/>
                          <a:cs typeface="Times New Roman" panose="02020603050405020304" pitchFamily="18" charset="0"/>
                        </a:rPr>
                        <a:t>q0</a:t>
                      </a:r>
                    </a:p>
                  </a:txBody>
                  <a:tcPr anchor="ctr"/>
                </a:tc>
                <a:tc>
                  <a:txBody>
                    <a:bodyPr/>
                    <a:lstStyle/>
                    <a:p>
                      <a:pPr>
                        <a:buNone/>
                      </a:pPr>
                      <a:r>
                        <a:rPr lang="en-IN">
                          <a:latin typeface="Times New Roman" panose="02020603050405020304" pitchFamily="18" charset="0"/>
                          <a:cs typeface="Times New Roman" panose="02020603050405020304" pitchFamily="18" charset="0"/>
                        </a:rPr>
                        <a:t>q1</a:t>
                      </a:r>
                    </a:p>
                  </a:txBody>
                  <a:tcPr anchor="ctr"/>
                </a:tc>
                <a:extLst>
                  <a:ext uri="{0D108BD9-81ED-4DB2-BD59-A6C34878D82A}">
                    <a16:rowId xmlns:a16="http://schemas.microsoft.com/office/drawing/2014/main" val="1093604707"/>
                  </a:ext>
                </a:extLst>
              </a:tr>
              <a:tr h="370840">
                <a:tc>
                  <a:txBody>
                    <a:bodyPr/>
                    <a:lstStyle/>
                    <a:p>
                      <a:pPr>
                        <a:buNone/>
                      </a:pPr>
                      <a:r>
                        <a:rPr lang="en-IN">
                          <a:latin typeface="Times New Roman" panose="02020603050405020304" pitchFamily="18" charset="0"/>
                          <a:cs typeface="Times New Roman" panose="02020603050405020304" pitchFamily="18" charset="0"/>
                        </a:rPr>
                        <a:t>q1</a:t>
                      </a:r>
                    </a:p>
                  </a:txBody>
                  <a:tcPr anchor="ctr"/>
                </a:tc>
                <a:tc>
                  <a:txBody>
                    <a:bodyPr/>
                    <a:lstStyle/>
                    <a:p>
                      <a:pPr>
                        <a:buNone/>
                      </a:pPr>
                      <a:r>
                        <a:rPr lang="en-IN">
                          <a:latin typeface="Times New Roman" panose="02020603050405020304" pitchFamily="18" charset="0"/>
                          <a:cs typeface="Times New Roman" panose="02020603050405020304" pitchFamily="18" charset="0"/>
                        </a:rPr>
                        <a:t>q0</a:t>
                      </a:r>
                    </a:p>
                  </a:txBody>
                  <a:tcPr anchor="ctr"/>
                </a:tc>
                <a:tc>
                  <a:txBody>
                    <a:bodyPr/>
                    <a:lstStyle/>
                    <a:p>
                      <a:pPr>
                        <a:buNone/>
                      </a:pPr>
                      <a:r>
                        <a:rPr lang="en-IN" dirty="0">
                          <a:latin typeface="Times New Roman" panose="02020603050405020304" pitchFamily="18" charset="0"/>
                          <a:cs typeface="Times New Roman" panose="02020603050405020304" pitchFamily="18" charset="0"/>
                        </a:rPr>
                        <a:t>q1</a:t>
                      </a:r>
                    </a:p>
                  </a:txBody>
                  <a:tcPr anchor="ctr"/>
                </a:tc>
                <a:extLst>
                  <a:ext uri="{0D108BD9-81ED-4DB2-BD59-A6C34878D82A}">
                    <a16:rowId xmlns:a16="http://schemas.microsoft.com/office/drawing/2014/main" val="3214426970"/>
                  </a:ext>
                </a:extLst>
              </a:tr>
            </a:tbl>
          </a:graphicData>
        </a:graphic>
      </p:graphicFrame>
    </p:spTree>
    <p:extLst>
      <p:ext uri="{BB962C8B-B14F-4D97-AF65-F5344CB8AC3E}">
        <p14:creationId xmlns:p14="http://schemas.microsoft.com/office/powerpoint/2010/main" val="3770744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7BCE7-A29E-293D-258F-08D470EC0EF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What is NFA?</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E7E298-8D24-4D51-EB7A-26E31994AC0D}"/>
              </a:ext>
            </a:extLst>
          </p:cNvPr>
          <p:cNvSpPr>
            <a:spLocks noGrp="1"/>
          </p:cNvSpPr>
          <p:nvPr>
            <p:ph idx="1"/>
          </p:nvPr>
        </p:nvSpPr>
        <p:spPr/>
        <p:txBody>
          <a:bodyPr>
            <a:normAutofit fontScale="85000" lnSpcReduction="20000"/>
          </a:bodyPr>
          <a:lstStyle/>
          <a:p>
            <a:pPr marL="0" indent="0">
              <a:buNone/>
            </a:pPr>
            <a:r>
              <a:rPr lang="en-IN" dirty="0">
                <a:latin typeface="Times New Roman" panose="02020603050405020304" pitchFamily="18" charset="0"/>
                <a:cs typeface="Times New Roman" panose="02020603050405020304" pitchFamily="18" charset="0"/>
              </a:rPr>
              <a:t>A Non-Deterministic Finite Automaton (NFA) is a finite automaton where a state can have multiple transitions for the same input symbol .</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Example</a:t>
            </a:r>
          </a:p>
          <a:p>
            <a:r>
              <a:rPr lang="en-IN" dirty="0">
                <a:latin typeface="Times New Roman" panose="02020603050405020304" pitchFamily="18" charset="0"/>
                <a:cs typeface="Times New Roman" panose="02020603050405020304" pitchFamily="18" charset="0"/>
              </a:rPr>
              <a:t>Suppose we want to accept strings containing ab.</a:t>
            </a:r>
          </a:p>
          <a:p>
            <a:r>
              <a:rPr lang="en-IN" dirty="0">
                <a:latin typeface="Times New Roman" panose="02020603050405020304" pitchFamily="18" charset="0"/>
                <a:cs typeface="Times New Roman" panose="02020603050405020304" pitchFamily="18" charset="0"/>
              </a:rPr>
              <a:t>Transitions:</a:t>
            </a:r>
          </a:p>
          <a:p>
            <a:r>
              <a:rPr lang="en-IN" dirty="0">
                <a:latin typeface="Times New Roman" panose="02020603050405020304" pitchFamily="18" charset="0"/>
                <a:cs typeface="Times New Roman" panose="02020603050405020304" pitchFamily="18" charset="0"/>
              </a:rPr>
              <a:t>q0 </a:t>
            </a:r>
            <a:r>
              <a:rPr lang="en-IN" dirty="0"/>
              <a:t>→ </a:t>
            </a:r>
            <a:r>
              <a:rPr lang="en-IN" dirty="0">
                <a:latin typeface="Times New Roman" panose="02020603050405020304" pitchFamily="18" charset="0"/>
                <a:cs typeface="Times New Roman" panose="02020603050405020304" pitchFamily="18" charset="0"/>
              </a:rPr>
              <a:t>q0</a:t>
            </a:r>
          </a:p>
          <a:p>
            <a:r>
              <a:rPr lang="en-IN" dirty="0">
                <a:latin typeface="Times New Roman" panose="02020603050405020304" pitchFamily="18" charset="0"/>
                <a:cs typeface="Times New Roman" panose="02020603050405020304" pitchFamily="18" charset="0"/>
              </a:rPr>
              <a:t>q0 </a:t>
            </a:r>
            <a:r>
              <a:rPr lang="en-IN" dirty="0"/>
              <a:t>→ </a:t>
            </a:r>
            <a:r>
              <a:rPr lang="en-IN" dirty="0">
                <a:latin typeface="Times New Roman" panose="02020603050405020304" pitchFamily="18" charset="0"/>
                <a:cs typeface="Times New Roman" panose="02020603050405020304" pitchFamily="18" charset="0"/>
              </a:rPr>
              <a:t>q1</a:t>
            </a:r>
          </a:p>
          <a:p>
            <a:r>
              <a:rPr lang="en-IN" dirty="0">
                <a:latin typeface="Times New Roman" panose="02020603050405020304" pitchFamily="18" charset="0"/>
                <a:cs typeface="Times New Roman" panose="02020603050405020304" pitchFamily="18" charset="0"/>
              </a:rPr>
              <a:t>q1 </a:t>
            </a:r>
            <a:r>
              <a:rPr lang="en-IN" dirty="0"/>
              <a:t>→ </a:t>
            </a:r>
            <a:r>
              <a:rPr lang="en-IN" dirty="0">
                <a:latin typeface="Times New Roman" panose="02020603050405020304" pitchFamily="18" charset="0"/>
                <a:cs typeface="Times New Roman" panose="02020603050405020304" pitchFamily="18" charset="0"/>
              </a:rPr>
              <a:t>q2 (Final)</a:t>
            </a:r>
          </a:p>
          <a:p>
            <a:r>
              <a:rPr lang="en-IN" dirty="0">
                <a:latin typeface="Times New Roman" panose="02020603050405020304" pitchFamily="18" charset="0"/>
                <a:cs typeface="Times New Roman" panose="02020603050405020304" pitchFamily="18" charset="0"/>
              </a:rPr>
              <a:t>For input </a:t>
            </a:r>
            <a:r>
              <a:rPr lang="en-IN" dirty="0" err="1">
                <a:latin typeface="Times New Roman" panose="02020603050405020304" pitchFamily="18" charset="0"/>
                <a:cs typeface="Times New Roman" panose="02020603050405020304" pitchFamily="18" charset="0"/>
              </a:rPr>
              <a:t>aab</a:t>
            </a:r>
            <a:r>
              <a:rPr lang="en-IN" dirty="0">
                <a:latin typeface="Times New Roman" panose="02020603050405020304" pitchFamily="18" charset="0"/>
                <a:cs typeface="Times New Roman" panose="02020603050405020304" pitchFamily="18" charset="0"/>
              </a:rPr>
              <a:t>, the NFA can choose different paths. One path reaches q2, so the string is Accepted.</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541A258-AF5F-FE54-FC3F-443794BCB8F2}"/>
              </a:ext>
            </a:extLst>
          </p:cNvPr>
          <p:cNvSpPr txBox="1"/>
          <p:nvPr/>
        </p:nvSpPr>
        <p:spPr>
          <a:xfrm>
            <a:off x="2015613" y="3854246"/>
            <a:ext cx="314632" cy="338554"/>
          </a:xfrm>
          <a:prstGeom prst="rect">
            <a:avLst/>
          </a:prstGeom>
          <a:noFill/>
        </p:spPr>
        <p:txBody>
          <a:bodyPr wrap="square" rtlCol="0">
            <a:spAutoFit/>
          </a:bodyPr>
          <a:lstStyle/>
          <a:p>
            <a:r>
              <a:rPr lang="en-US" sz="1600" dirty="0"/>
              <a:t>a</a:t>
            </a:r>
            <a:endParaRPr lang="en-IN" sz="1600" dirty="0"/>
          </a:p>
        </p:txBody>
      </p:sp>
      <p:sp>
        <p:nvSpPr>
          <p:cNvPr id="5" name="TextBox 4">
            <a:extLst>
              <a:ext uri="{FF2B5EF4-FFF2-40B4-BE49-F238E27FC236}">
                <a16:creationId xmlns:a16="http://schemas.microsoft.com/office/drawing/2014/main" id="{25A30B19-D5C5-BF12-725C-9D4D64363E1E}"/>
              </a:ext>
            </a:extLst>
          </p:cNvPr>
          <p:cNvSpPr txBox="1"/>
          <p:nvPr/>
        </p:nvSpPr>
        <p:spPr>
          <a:xfrm>
            <a:off x="2015613" y="4226555"/>
            <a:ext cx="272832" cy="338554"/>
          </a:xfrm>
          <a:prstGeom prst="rect">
            <a:avLst/>
          </a:prstGeom>
          <a:noFill/>
        </p:spPr>
        <p:txBody>
          <a:bodyPr wrap="none" rtlCol="0">
            <a:spAutoFit/>
          </a:bodyPr>
          <a:lstStyle/>
          <a:p>
            <a:r>
              <a:rPr lang="en-US" sz="1600" dirty="0"/>
              <a:t>a</a:t>
            </a:r>
            <a:endParaRPr lang="en-IN" sz="1600" dirty="0"/>
          </a:p>
        </p:txBody>
      </p:sp>
      <p:sp>
        <p:nvSpPr>
          <p:cNvPr id="6" name="TextBox 5">
            <a:extLst>
              <a:ext uri="{FF2B5EF4-FFF2-40B4-BE49-F238E27FC236}">
                <a16:creationId xmlns:a16="http://schemas.microsoft.com/office/drawing/2014/main" id="{A3969A37-2601-A1FE-838E-68979C3C0077}"/>
              </a:ext>
            </a:extLst>
          </p:cNvPr>
          <p:cNvSpPr txBox="1"/>
          <p:nvPr/>
        </p:nvSpPr>
        <p:spPr>
          <a:xfrm>
            <a:off x="2001187" y="4598864"/>
            <a:ext cx="287258" cy="338554"/>
          </a:xfrm>
          <a:prstGeom prst="rect">
            <a:avLst/>
          </a:prstGeom>
          <a:noFill/>
        </p:spPr>
        <p:txBody>
          <a:bodyPr wrap="none" rtlCol="0">
            <a:spAutoFit/>
          </a:bodyPr>
          <a:lstStyle/>
          <a:p>
            <a:r>
              <a:rPr lang="en-US" sz="1600" dirty="0"/>
              <a:t>b</a:t>
            </a:r>
            <a:endParaRPr lang="en-IN" sz="1600" dirty="0"/>
          </a:p>
        </p:txBody>
      </p:sp>
    </p:spTree>
    <p:extLst>
      <p:ext uri="{BB962C8B-B14F-4D97-AF65-F5344CB8AC3E}">
        <p14:creationId xmlns:p14="http://schemas.microsoft.com/office/powerpoint/2010/main" val="2874504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F6B9C-DEDE-5E54-4D12-4981C91F2E3F}"/>
              </a:ext>
            </a:extLst>
          </p:cNvPr>
          <p:cNvSpPr>
            <a:spLocks noGrp="1"/>
          </p:cNvSpPr>
          <p:nvPr>
            <p:ph type="title"/>
          </p:nvPr>
        </p:nvSpPr>
        <p:spPr>
          <a:xfrm>
            <a:off x="1294362" y="686532"/>
            <a:ext cx="9603275" cy="1049235"/>
          </a:xfrm>
        </p:spPr>
        <p:txBody>
          <a:bodyPr>
            <a:normAutofit/>
          </a:bodyPr>
          <a:lstStyle/>
          <a:p>
            <a:r>
              <a:rPr lang="en-IN" b="1" dirty="0">
                <a:latin typeface="Times New Roman" panose="02020603050405020304" pitchFamily="18" charset="0"/>
                <a:cs typeface="Times New Roman" panose="02020603050405020304" pitchFamily="18" charset="0"/>
              </a:rPr>
              <a:t> Practical Example</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7CF0B8-B88B-AA05-1298-E489D6E27F63}"/>
              </a:ext>
            </a:extLst>
          </p:cNvPr>
          <p:cNvSpPr>
            <a:spLocks noGrp="1"/>
          </p:cNvSpPr>
          <p:nvPr>
            <p:ph idx="1"/>
          </p:nvPr>
        </p:nvSpPr>
        <p:spPr>
          <a:xfrm>
            <a:off x="78658" y="2015732"/>
            <a:ext cx="5545394" cy="3450613"/>
          </a:xfrm>
        </p:spPr>
        <p:txBody>
          <a:bodyPr>
            <a:noAutofit/>
          </a:bodyPr>
          <a:lstStyle/>
          <a:p>
            <a:pPr marL="0" indent="0" algn="just">
              <a:buNone/>
            </a:pPr>
            <a:r>
              <a:rPr lang="en-IN" sz="1800" dirty="0">
                <a:latin typeface="Times New Roman" panose="02020603050405020304" pitchFamily="18" charset="0"/>
                <a:cs typeface="Times New Roman" panose="02020603050405020304" pitchFamily="18" charset="0"/>
              </a:rPr>
              <a:t>Imagine a door security system.</a:t>
            </a:r>
          </a:p>
          <a:p>
            <a:pPr marL="0" indent="0" algn="just">
              <a:buNone/>
            </a:pPr>
            <a:r>
              <a:rPr lang="en-IN" sz="1800" b="1" dirty="0">
                <a:latin typeface="Times New Roman" panose="02020603050405020304" pitchFamily="18" charset="0"/>
                <a:cs typeface="Times New Roman" panose="02020603050405020304" pitchFamily="18" charset="0"/>
              </a:rPr>
              <a:t>DFA</a:t>
            </a:r>
          </a:p>
          <a:p>
            <a:pPr algn="just"/>
            <a:r>
              <a:rPr lang="en-IN" sz="1800" dirty="0">
                <a:latin typeface="Times New Roman" panose="02020603050405020304" pitchFamily="18" charset="0"/>
                <a:cs typeface="Times New Roman" panose="02020603050405020304" pitchFamily="18" charset="0"/>
              </a:rPr>
              <a:t>The security guard follows only one fixed route for checking a visitor.</a:t>
            </a:r>
          </a:p>
          <a:p>
            <a:pPr algn="just"/>
            <a:r>
              <a:rPr lang="en-IN" sz="1800" dirty="0">
                <a:latin typeface="Times New Roman" panose="02020603050405020304" pitchFamily="18" charset="0"/>
                <a:cs typeface="Times New Roman" panose="02020603050405020304" pitchFamily="18" charset="0"/>
              </a:rPr>
              <a:t>Visitor → ID Check → Fingerprint → Enter</a:t>
            </a:r>
          </a:p>
          <a:p>
            <a:pPr algn="just"/>
            <a:r>
              <a:rPr lang="en-IN" sz="1800" dirty="0">
                <a:latin typeface="Times New Roman" panose="02020603050405020304" pitchFamily="18" charset="0"/>
                <a:cs typeface="Times New Roman" panose="02020603050405020304" pitchFamily="18" charset="0"/>
              </a:rPr>
              <a:t>Only one path is possible.</a:t>
            </a:r>
          </a:p>
        </p:txBody>
      </p:sp>
      <p:sp>
        <p:nvSpPr>
          <p:cNvPr id="4" name="TextBox 3">
            <a:extLst>
              <a:ext uri="{FF2B5EF4-FFF2-40B4-BE49-F238E27FC236}">
                <a16:creationId xmlns:a16="http://schemas.microsoft.com/office/drawing/2014/main" id="{5B8301A0-E708-DBAB-56ED-0E8978BE5ED0}"/>
              </a:ext>
            </a:extLst>
          </p:cNvPr>
          <p:cNvSpPr txBox="1"/>
          <p:nvPr/>
        </p:nvSpPr>
        <p:spPr>
          <a:xfrm>
            <a:off x="5732206" y="2310581"/>
            <a:ext cx="6145162" cy="2536528"/>
          </a:xfrm>
          <a:prstGeom prst="rect">
            <a:avLst/>
          </a:prstGeom>
          <a:noFill/>
        </p:spPr>
        <p:txBody>
          <a:bodyPr wrap="square" rtlCol="0">
            <a:spAutoFit/>
          </a:bodyPr>
          <a:lstStyle/>
          <a:p>
            <a:pPr algn="just">
              <a:lnSpc>
                <a:spcPct val="150000"/>
              </a:lnSpc>
            </a:pPr>
            <a:r>
              <a:rPr lang="en-IN" b="1" dirty="0">
                <a:latin typeface="Times New Roman" panose="02020603050405020304" pitchFamily="18" charset="0"/>
                <a:cs typeface="Times New Roman" panose="02020603050405020304" pitchFamily="18" charset="0"/>
              </a:rPr>
              <a:t>NFA</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visitor can be verified using multiple methods.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Visitor → ID Card , Face Recognition, QR Code.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If any one verification succeeds, access is granted.</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is similar to an NFA, where multiple paths are possible.</a:t>
            </a:r>
          </a:p>
          <a:p>
            <a:pPr>
              <a:lnSpc>
                <a:spcPct val="150000"/>
              </a:lnSpc>
            </a:pPr>
            <a:endParaRPr lang="en-IN" dirty="0"/>
          </a:p>
        </p:txBody>
      </p:sp>
    </p:spTree>
    <p:extLst>
      <p:ext uri="{BB962C8B-B14F-4D97-AF65-F5344CB8AC3E}">
        <p14:creationId xmlns:p14="http://schemas.microsoft.com/office/powerpoint/2010/main" val="2073145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A1724-2E66-F25F-A624-CAAAB942906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DB4406-C445-DFDE-B998-15A568FD4833}"/>
              </a:ext>
            </a:extLst>
          </p:cNvPr>
          <p:cNvSpPr>
            <a:spLocks noGrp="1"/>
          </p:cNvSpPr>
          <p:nvPr>
            <p:ph idx="1"/>
          </p:nvPr>
        </p:nvSpPr>
        <p:spPr/>
        <p:txBody>
          <a:bodyPr/>
          <a:lstStyle/>
          <a:p>
            <a:pPr marL="0" indent="0" algn="just">
              <a:lnSpc>
                <a:spcPct val="150000"/>
              </a:lnSpc>
              <a:buNone/>
            </a:pPr>
            <a:r>
              <a:rPr lang="en-IN" dirty="0">
                <a:latin typeface="Times New Roman" panose="02020603050405020304" pitchFamily="18" charset="0"/>
                <a:cs typeface="Times New Roman" panose="02020603050405020304" pitchFamily="18" charset="0"/>
              </a:rPr>
              <a:t>The major role of NFA and DFA in compiler design is to perform lexical analysis. They read the source code character by character and identify tokens such as keywords, identifiers, numbers, and operators. NFA is used because it is easy to create from regular expressions, while DFA is used during compilation because it recognizes tokens faster with only one transition for each input.</a:t>
            </a:r>
          </a:p>
        </p:txBody>
      </p:sp>
    </p:spTree>
    <p:extLst>
      <p:ext uri="{BB962C8B-B14F-4D97-AF65-F5344CB8AC3E}">
        <p14:creationId xmlns:p14="http://schemas.microsoft.com/office/powerpoint/2010/main" val="383150289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{9D88B9C3-C3CB-4468-A70F-47DD033F175A}TFc986dd65-aaf0-4d5c-bef9-9c391ee05f7b792878d6-f8cb856a3a7f</Template>
  <TotalTime>66</TotalTime>
  <Words>365</Words>
  <Application>Microsoft Office PowerPoint</Application>
  <PresentationFormat>Widescreen</PresentationFormat>
  <Paragraphs>54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Gill Sans MT</vt:lpstr>
      <vt:lpstr>Times New Roman</vt:lpstr>
      <vt:lpstr>Gallery</vt:lpstr>
      <vt:lpstr>NFA vs Dfa </vt:lpstr>
      <vt:lpstr>What is a Finite Automaton? </vt:lpstr>
      <vt:lpstr>What is DFA? </vt:lpstr>
      <vt:lpstr>What is NFA? </vt:lpstr>
      <vt:lpstr> Practical Example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Poojashri R S</dc:creator>
  <cp:lastModifiedBy>Poojashri R S</cp:lastModifiedBy>
  <cp:revision>1</cp:revision>
  <dcterms:created xsi:type="dcterms:W3CDTF">2026-07-28T01:57:06Z</dcterms:created>
  <dcterms:modified xsi:type="dcterms:W3CDTF">2026-07-28T03:07:11Z</dcterms:modified>
</cp:coreProperties>
</file>